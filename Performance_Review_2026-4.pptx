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Revenue: Target vs Achieved (₹ Cr)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Generative Revenue</c:v>
                  </c:pt>
                  <c:pt idx="1">
                    <c:v>Managed Revenue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Achieved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Generative Revenue</c:v>
                  </c:pt>
                  <c:pt idx="1">
                    <c:v>Managed Revenue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3.57</c:v>
                </c:pt>
                <c:pt idx="1">
                  <c:v>3.18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10515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</a:rPr>
              <a:t>PERFORMANCE REVIEW · 2026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74320" y="141732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Manivel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274320" y="21031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</a:rPr>
              <a:t>Senior Manager – Cloud &amp; DevOps Architect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74320" y="2971800"/>
            <a:ext cx="3840480" cy="3657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3108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Delivery Excellence  ·  Revenue Growth  ·  Client Impact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474720"/>
            <a:ext cx="1097280" cy="10972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4FC3F7">
              <a:alpha val="3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Performance Discussion – FY 2025–26  ·  Director &amp; Partner Review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EXECUTIVE SUMMARY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14400"/>
            <a:ext cx="1993392" cy="15544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10058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₹2.55 Cr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74320" y="16916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Revenue Collected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202996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Payments received this year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50592" y="914400"/>
            <a:ext cx="1993392" cy="15544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450592" y="10058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₹3.03 Cr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2450592" y="16916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Invoices Raised — Pending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450592" y="202996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Billed, payment expected ~Sep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26864" y="914400"/>
            <a:ext cx="1993392" cy="1554480"/>
          </a:xfrm>
          <a:prstGeom prst="rect">
            <a:avLst/>
          </a:prstGeom>
          <a:solidFill>
            <a:srgbClr val="00695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26864" y="10058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178%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626864" y="16916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Gen. Revenue Achievement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626864" y="202996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₹3.57 Cr vs ₹2 Cr target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803136" y="914400"/>
            <a:ext cx="1993392" cy="1554480"/>
          </a:xfrm>
          <a:prstGeom prst="rect">
            <a:avLst/>
          </a:prstGeom>
          <a:solidFill>
            <a:srgbClr val="4A148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03136" y="10058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₹5.58 Cr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6803136" y="16916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Total Billed This Year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03136" y="202996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Collected + Invoiced (Excl. Managed)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74320" y="2606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Key Highlights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65760" y="30175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Recognized as trusted Architect &amp; Engagement Lead — led Cloud &amp; DevOps transformation across Unilever, GCPL, and MSIL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65760" y="339242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Delivered 3 high-impact programs: ACS Unified DevSecOps Pipeline (Phase 1 &amp; 2), NewRelic Observability Pilot, HAP LaunchPad 2.0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65760" y="37673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Expanded DevOps capability from 2 → 6 members; built reusable DevOps frameworks and scalable architecture patterns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65760" y="414223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₹2.55 Cr collected; ₹3.03 Cr invoiced &amp; pending receipt (~Sep) — total billed ₹5.58 Cr across Generative &amp; Managed revenue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760" y="451713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Supported 4 RFP opportunities; participated in ESE &amp; GCC audits; completed 4 certifications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REVENUE PERFORMANCE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457200" cy="457200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365760" y="914400"/>
          <a:ext cx="45720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303520" y="914400"/>
            <a:ext cx="3566160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3"/>
          <p:cNvSpPr/>
          <p:nvPr/>
        </p:nvSpPr>
        <p:spPr>
          <a:xfrm>
            <a:off x="5303520" y="914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FC3F7"/>
                </a:solidFill>
              </a:rPr>
              <a:t>COLLECTED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349240" y="1325880"/>
            <a:ext cx="2286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SLMC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589520" y="1325880"/>
            <a:ext cx="12344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₹12.0 L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349240" y="1467612"/>
            <a:ext cx="2286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PMI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589520" y="1467612"/>
            <a:ext cx="12344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₹14.0 L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349240" y="1609344"/>
            <a:ext cx="2286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GenAI (Vijay)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589520" y="1609344"/>
            <a:ext cx="12344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₹6.1 L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349240" y="1751076"/>
            <a:ext cx="2286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DDT Assessment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589520" y="1751076"/>
            <a:ext cx="12344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₹1.04 Cr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349240" y="1892808"/>
            <a:ext cx="2286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DevOps &amp; Cloud Opt.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589520" y="1892808"/>
            <a:ext cx="12344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₹69.0 L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349240" y="2034540"/>
            <a:ext cx="2286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GenAI D&amp;D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7589520" y="2034540"/>
            <a:ext cx="12344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₹50.0 L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303520" y="2423160"/>
            <a:ext cx="3566160" cy="274320"/>
          </a:xfrm>
          <a:prstGeom prst="rect">
            <a:avLst/>
          </a:prstGeom>
          <a:solidFill>
            <a:srgbClr val="4FC3F7">
              <a:alpha val="70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5303520" y="2423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Collected: ₹2.55 Cr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303520" y="2788920"/>
            <a:ext cx="3566160" cy="1417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19"/>
          <p:cNvSpPr/>
          <p:nvPr/>
        </p:nvSpPr>
        <p:spPr>
          <a:xfrm>
            <a:off x="5303520" y="2788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4FC3F7"/>
                </a:solidFill>
              </a:rPr>
              <a:t>INVOICED — PAYMENT PENDING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349240" y="3200400"/>
            <a:ext cx="2286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Modelez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7589520" y="3200400"/>
            <a:ext cx="12344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₹8.5 L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349240" y="3342132"/>
            <a:ext cx="2286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HAP Observability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7589520" y="3342132"/>
            <a:ext cx="12344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₹20.95 L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5349240" y="3483864"/>
            <a:ext cx="2286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DevOps &amp; Cloud Opt.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7589520" y="3483864"/>
            <a:ext cx="12344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₹37.0 L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349240" y="3625596"/>
            <a:ext cx="2286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DevOps Ext.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7589520" y="3625596"/>
            <a:ext cx="12344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₹2.29 Cr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5349240" y="3767328"/>
            <a:ext cx="22860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GenAI (Vijay)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7589520" y="3767328"/>
            <a:ext cx="12344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₹8.0 L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5303520" y="4251960"/>
            <a:ext cx="3566160" cy="274320"/>
          </a:xfrm>
          <a:prstGeom prst="rect">
            <a:avLst/>
          </a:prstGeom>
          <a:solidFill>
            <a:srgbClr val="4FC3F7">
              <a:alpha val="70000"/>
            </a:srgbClr>
          </a:solidFill>
          <a:ln/>
        </p:spPr>
      </p:sp>
      <p:sp>
        <p:nvSpPr>
          <p:cNvPr id="35" name="Text 31"/>
          <p:cNvSpPr/>
          <p:nvPr/>
        </p:nvSpPr>
        <p:spPr>
          <a:xfrm>
            <a:off x="5303520" y="4251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Invoiced (Pending): ₹3.03 Cr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3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Total Billed FY 2025–26: ₹5.58 Cr (₹2.55 Cr Collected + ₹3.03 Cr Invoiced, payment expected ~Sep)  |  Managed Revenue: ₹3.18 Cr (New Stream)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PROJECTS DELIVERED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896112"/>
            <a:ext cx="2816352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01168" y="896112"/>
            <a:ext cx="2816352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201168" y="896112"/>
            <a:ext cx="2816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Project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92608" y="153619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ACS Unified DevSecOps Pipeline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92608" y="2029968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C0"/>
                </a:solidFill>
              </a:rPr>
              <a:t>Client: Unilever  |  Role: Architect / Lead / SME  |  Team: 5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92608" y="2423160"/>
            <a:ext cx="26334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" name="Text 8"/>
          <p:cNvSpPr/>
          <p:nvPr/>
        </p:nvSpPr>
        <p:spPr>
          <a:xfrm>
            <a:off x="292608" y="248716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Outcomes: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92608" y="276148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Scalable DevSecOps framework with integrated SecOps &amp; code quality scanning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92608" y="301752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Standardized image model across dev, test &amp; prod environments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92608" y="32735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Deployment time ↓ 50%; Pipeline availability → 100%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92608" y="352958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Audit-ready artifact storage &amp; compliance governance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92608" y="4645152"/>
            <a:ext cx="2633472" cy="256032"/>
          </a:xfrm>
          <a:prstGeom prst="rect">
            <a:avLst/>
          </a:prstGeom>
          <a:solidFill>
            <a:srgbClr val="1E2761">
              <a:alpha val="15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292608" y="46451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Value: Risk · Speed · Quality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182112" y="896112"/>
            <a:ext cx="2816352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182112" y="896112"/>
            <a:ext cx="2816352" cy="594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7"/>
          <p:cNvSpPr/>
          <p:nvPr/>
        </p:nvSpPr>
        <p:spPr>
          <a:xfrm>
            <a:off x="3182112" y="896112"/>
            <a:ext cx="2816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Project 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273552" y="153619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ACS &amp; RPA NewRelic Observability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273552" y="2029968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C0"/>
                </a:solidFill>
              </a:rPr>
              <a:t>Client: Unilever  |  Role: Architect / SME  |  Team: 4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73552" y="2423160"/>
            <a:ext cx="26334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Text 21"/>
          <p:cNvSpPr/>
          <p:nvPr/>
        </p:nvSpPr>
        <p:spPr>
          <a:xfrm>
            <a:off x="3273552" y="248716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Outcomes: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3273552" y="276148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Unified monitoring: NewRelic integrated with Azure for ACS &amp; RPA bots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273552" y="301752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Custom executive dashboards with real-time insights &amp; actionable metrics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273552" y="32735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Color-coded alerts + trend analysis for proactive issue detection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273552" y="352958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Cost dashboard for utilization tracking &amp; transparency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273552" y="4645152"/>
            <a:ext cx="2633472" cy="256032"/>
          </a:xfrm>
          <a:prstGeom prst="rect">
            <a:avLst/>
          </a:prstGeom>
          <a:solidFill>
            <a:srgbClr val="065A82">
              <a:alpha val="15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3273552" y="46451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Value: Visibility · Risk · Cost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163056" y="896112"/>
            <a:ext cx="2816352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163056" y="896112"/>
            <a:ext cx="2816352" cy="59436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3" name="Text 30"/>
          <p:cNvSpPr/>
          <p:nvPr/>
        </p:nvSpPr>
        <p:spPr>
          <a:xfrm>
            <a:off x="6163056" y="896112"/>
            <a:ext cx="2816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</a:rPr>
              <a:t>Project 3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254496" y="1536192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HAP LaunchPad 2.0 — Governance Platform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254496" y="2029968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C0"/>
                </a:solidFill>
              </a:rPr>
              <a:t>Client: Unilever  |  Role: Architect / SME  |  Team: 2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254496" y="2423160"/>
            <a:ext cx="2633472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7" name="Text 34"/>
          <p:cNvSpPr/>
          <p:nvPr/>
        </p:nvSpPr>
        <p:spPr>
          <a:xfrm>
            <a:off x="6254496" y="248716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Outcomes: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254496" y="276148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Unified approval workflow: Gate 1, 1.5 &amp; 2 in one seamless traceable platform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254496" y="3017520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Leadership dashboards with SLA timelines &amp; governance status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254496" y="32735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Approval timelines reduced: weeks → days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254496" y="352958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2E"/>
                </a:solidFill>
              </a:rPr>
              <a:t>Centralized evidence storage for audit readiness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254496" y="4645152"/>
            <a:ext cx="2633472" cy="256032"/>
          </a:xfrm>
          <a:prstGeom prst="rect">
            <a:avLst/>
          </a:prstGeom>
          <a:solidFill>
            <a:srgbClr val="00695C">
              <a:alpha val="15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6254496" y="464515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95C"/>
                </a:solidFill>
              </a:rPr>
              <a:t>Value: Governance · Speed · Compliance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CLIENT PORTFOLIO &amp; CROSS-ACCOUNT CONTRIBUTIONS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457200" cy="4572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146304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1371600"/>
                <a:gridCol w="3383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Client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Engagement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Contribution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Unilever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Cloud Infra &amp; DevOps Architect / Engagement Lead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Optimization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 major projects; DevOps team scaled 2→6; Full delivery ownership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GCPL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Cloud Infrastructure Architect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Development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GenAI infra architecture on Azure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MSIL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Cloud Infrastructure Architect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Development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Dataverse GenAI infra on AWS; DevOps observations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25146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Pipeline Created for Next Year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320040" y="2971800"/>
            <a:ext cx="420624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57200" y="29718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ACS &amp; RPA Unified Pipeline — GCP migration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20040" y="3474720"/>
            <a:ext cx="420624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57200" y="3474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NewRelic Observability — Phase 2 for ACS bots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20040" y="3977640"/>
            <a:ext cx="420624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57200" y="39776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DevSecOps Pipeline — Phase 3 extension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709160" y="2971800"/>
            <a:ext cx="420624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846320" y="29718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ACS Bot migration to GCP Cloud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09160" y="3474720"/>
            <a:ext cx="420624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846320" y="3474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Azure infrastructure security hardening (vulnerabilities, network)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VALUE CREATED FOR CLIENTS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6012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60120"/>
            <a:ext cx="73152" cy="1828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0058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SPEED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Release cycles shortened from days → hours; faster market responsiveness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18196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Standardization &amp; automation enabled faster environment provisioning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22219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Gate approvals: weeks → days via LaunchPad governance platform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96012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960120"/>
            <a:ext cx="73152" cy="18288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3" name="Text 10"/>
          <p:cNvSpPr/>
          <p:nvPr/>
        </p:nvSpPr>
        <p:spPr>
          <a:xfrm>
            <a:off x="4892040" y="10058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95C"/>
                </a:solidFill>
              </a:rPr>
              <a:t>QUALITY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14173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Improved code quality &amp; compliance governance in CICD pipeline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892040" y="18196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Improved SLA adherence on critical gate approvals (LaunchPad)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92040" y="22219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Reusable DevOps frameworks &amp; scalable architecture patterns created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74320" y="297180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2971800"/>
            <a:ext cx="73152" cy="182880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30175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0DAD"/>
                </a:solidFill>
              </a:rPr>
              <a:t>RISK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7200" y="34290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Enhanced security posture — SecOps tools integrated in pipeline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38313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Full bot visibility via NewRelic: proactive alerts &amp; color-coded monitoring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" y="4233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Audit-ready artifacts &amp; centralized governance evidence storage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709160" y="297180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09160" y="2971800"/>
            <a:ext cx="73152" cy="18288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5" name="Text 22"/>
          <p:cNvSpPr/>
          <p:nvPr/>
        </p:nvSpPr>
        <p:spPr>
          <a:xfrm>
            <a:off x="4892040" y="30175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COST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892040" y="34290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Optimized infrastructure utilization &amp; deployment effort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892040" y="38313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Cost transparency dashboard for utilization trend analysis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892040" y="4233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</a:rPr>
              <a:t>Infrastructure governance improvements reduce operational overhead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BEYOND DELIVERY — BROADER CONTRIBUTIONS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64592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60120"/>
            <a:ext cx="416052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0515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Team Building &amp; Scaling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51560" y="139903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Expanded DevOps capability from 2 to 6 members; improved delivery maturity and execution capability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709160" y="960120"/>
            <a:ext cx="416052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28016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0" y="10515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Mentoring &amp; Capability Building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486400" y="139903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Mentored an intern to develop 3 functional solutions; focused on internal capability growth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274320" y="2258568"/>
            <a:ext cx="416052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78608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23500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Audit &amp; Compliance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1051560" y="2697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Supported ESE &amp; GCC audits; ensured compliance readiness and client-facing risk management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4709160" y="2258568"/>
            <a:ext cx="416052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578608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486400" y="23500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RFP &amp; Business Development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5486400" y="2697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Contributed to 4 RFP initiatives, supporting pipeline creation with significant revenue potential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274320" y="3557016"/>
            <a:ext cx="416052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877056"/>
            <a:ext cx="457200" cy="4572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051560" y="36484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Cross-Team Delivery Support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1051560" y="399592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Guided teams through dependencies; stakeholder discussions to unblock delivery &amp; release hurdles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4709160" y="3557016"/>
            <a:ext cx="4160520" cy="114300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877056"/>
            <a:ext cx="457200" cy="4572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486400" y="36484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Certifications &amp; Continuous Learning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5486400" y="399592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Completed 4 professional certifications enhancing depth in Cloud &amp; DevOps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COMMITMENTS FOR H2 &amp; ENABLERS NEEDED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663440" cy="3977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4FC3F7"/>
                </a:solidFill>
              </a:rPr>
              <a:t>H2 COMMITMENTS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4389120" cy="457200"/>
          </a:xfrm>
          <a:prstGeom prst="rect">
            <a:avLst/>
          </a:prstGeom>
          <a:solidFill>
            <a:srgbClr val="4FC3F7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4173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Target Revenue: ₹2 Cr (Generative)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Cloud-native modernization &amp; migration engagements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3591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DevOps maturity transformation for key accounts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75234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Extend DevSecOps pipeline to Phase 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14553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NewRelic observability rollout for ACS bots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5387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ACS Bot migration to GCP Cloud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Azure security hardening (vulnerabilities + network)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3251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Pipeline conversion &amp; account expansion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20640" y="914400"/>
            <a:ext cx="374904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20640" y="914400"/>
            <a:ext cx="3749040" cy="4389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91440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ENABLERS FROM LEADERSHIP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57800" y="1463040"/>
            <a:ext cx="3474720" cy="8686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257800" y="1463040"/>
            <a:ext cx="64008" cy="8686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0" name="Text 18"/>
          <p:cNvSpPr/>
          <p:nvPr/>
        </p:nvSpPr>
        <p:spPr>
          <a:xfrm>
            <a:off x="5440680" y="1508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Skilled Resource Pool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40680" y="18105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Access to niche talent in Observability &amp; DevOps for scaling delivery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257800" y="2560320"/>
            <a:ext cx="3474720" cy="8686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257800" y="2560320"/>
            <a:ext cx="64008" cy="8686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4" name="Text 22"/>
          <p:cNvSpPr/>
          <p:nvPr/>
        </p:nvSpPr>
        <p:spPr>
          <a:xfrm>
            <a:off x="5440680" y="2606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Decision Support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40680" y="29077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Guidance on critical architectural and client-facing decisions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257800" y="3657600"/>
            <a:ext cx="3474720" cy="8686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7" name="Shape 25"/>
          <p:cNvSpPr/>
          <p:nvPr/>
        </p:nvSpPr>
        <p:spPr>
          <a:xfrm>
            <a:off x="5257800" y="3657600"/>
            <a:ext cx="64008" cy="8686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8" name="Text 26"/>
          <p:cNvSpPr/>
          <p:nvPr/>
        </p:nvSpPr>
        <p:spPr>
          <a:xfrm>
            <a:off x="5440680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Engagement Admin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40680" y="400507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Support for audit docs, opportunity/engagement code management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9202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Consistent Delivery. Revenue Beyond Targets.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365760" y="2514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Established a strong foundation for scalable Cloud, DevOps &amp; Observability practices.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286000" y="3108960"/>
            <a:ext cx="4572000" cy="3657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32461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</a:rPr>
              <a:t>Committed to driving larger transformation programs, client growth &amp; organizational capability enhancement.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4FC3F7">
              <a:alpha val="3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Manivel  ·  Senior Manager, Cloud &amp; DevOps Architect  ·  Performance Discussion FY 2025–26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Review 2026</dc:title>
  <dc:subject>PptxGenJS Presentation</dc:subject>
  <dc:creator>Senior Manager, Cloud &amp; DevOps Architect</dc:creator>
  <cp:lastModifiedBy>Senior Manager, Cloud &amp; DevOps Architect</cp:lastModifiedBy>
  <cp:revision>1</cp:revision>
  <dcterms:created xsi:type="dcterms:W3CDTF">2026-05-24T14:04:57Z</dcterms:created>
  <dcterms:modified xsi:type="dcterms:W3CDTF">2026-05-24T14:04:57Z</dcterms:modified>
</cp:coreProperties>
</file>