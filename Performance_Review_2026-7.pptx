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C3F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105156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4FC3F7"/>
                </a:solidFill>
              </a:rPr>
              <a:t>PERFORMANCE REVIEW · 2026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274320" y="141732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Manivel M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274320" y="21031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ADCFC"/>
                </a:solidFill>
              </a:rPr>
              <a:t>Senior Manager – Cloud &amp; DevOps Architect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274320" y="2971800"/>
            <a:ext cx="3840480" cy="3657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31089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Delivery Excellence  ·  Revenue Growth  ·  Client Impact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3474720"/>
            <a:ext cx="1097280" cy="10972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4FC3F7">
              <a:alpha val="30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274320" y="484632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Performance Discussion – FY 2025–26  ·  Director &amp; Partner Review  ·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EXECUTIVE SUMMARY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64592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914400"/>
            <a:ext cx="1993392" cy="15544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74320" y="1005840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₹3.69 Cr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274320" y="169164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Generative Revenue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2029968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Total billed this year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450592" y="914400"/>
            <a:ext cx="1993392" cy="15544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450592" y="1005840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₹3.18 Cr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2450592" y="169164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Managed Revenue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450592" y="2029968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SCNC Agentic Deployment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626864" y="914400"/>
            <a:ext cx="1993392" cy="1554480"/>
          </a:xfrm>
          <a:prstGeom prst="rect">
            <a:avLst/>
          </a:prstGeom>
          <a:solidFill>
            <a:srgbClr val="00695C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626864" y="1005840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₹6.88 Cr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4626864" y="169164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Total Revenue Influence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626864" y="2029968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Generative + Managed combined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803136" y="914400"/>
            <a:ext cx="1993392" cy="1554480"/>
          </a:xfrm>
          <a:prstGeom prst="rect">
            <a:avLst/>
          </a:prstGeom>
          <a:solidFill>
            <a:srgbClr val="4A148C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803136" y="1005840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 Clients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6803136" y="169164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Portfolio Managed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803136" y="2029968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Unilever · GCPL · MSIL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74320" y="26060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Key Highlights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365760" y="30175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Team &amp; Leadership: Established and scaled the DevOps delivery team; onboarded intern who built 3 AI-powered products; mentored team on DevSecOps capability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65760" y="3392424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Business Skills: Generated ₹3.69 Cr (Generative) + ₹3.18 Cr (Managed) revenue; supported 5 RFPs — Valterra, Tavant, MSIL, RIL &amp; JSW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65760" y="376732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Technical Skills: Delivered 3 programs for Unilever; architected GenAI infrastructure for GCPL (Azure) &amp; MSIL (AWS); completed 8 courses incl. AI, MLOps &amp; FinOps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65760" y="414223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QRM: Participated in ESE &amp; GCC audits; built reusable DevSecOps frameworks; ensured compliance &amp; governance across all engagements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REVENUE PERFORMANCE — FY 2025–26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64592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9144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</a:rPr>
              <a:t>GENERATIVE REVENUE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74320" y="1261872"/>
            <a:ext cx="5120640" cy="658368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11480" y="1261872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Total Generative Revenue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291840" y="1261872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D700"/>
                </a:solidFill>
              </a:rPr>
              <a:t>₹3,69,49,370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798064" y="1938528"/>
            <a:ext cx="73152" cy="31089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" y="2267712"/>
            <a:ext cx="4389120" cy="804672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77240" y="22677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Collected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560320" y="226771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D700"/>
                </a:solidFill>
              </a:rPr>
              <a:t>₹75,11,000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68680" y="2624328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ADCFC"/>
                </a:solidFill>
              </a:rPr>
              <a:t>UL GenAI Dev (Vijay)  ₹6,11,000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868680" y="2807208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ADCFC"/>
                </a:solidFill>
              </a:rPr>
              <a:t>UL DevOps &amp; Cloud Governance  ₹69,00,000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798064" y="3090672"/>
            <a:ext cx="73152" cy="32918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6" name="Shape 13"/>
          <p:cNvSpPr/>
          <p:nvPr/>
        </p:nvSpPr>
        <p:spPr>
          <a:xfrm>
            <a:off x="1005840" y="3438144"/>
            <a:ext cx="3657600" cy="1417320"/>
          </a:xfrm>
          <a:prstGeom prst="rect">
            <a:avLst/>
          </a:prstGeom>
          <a:solidFill>
            <a:srgbClr val="0D47A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1115568" y="343814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DCFC"/>
                </a:solidFill>
              </a:rPr>
              <a:t>Invoiced — Payment Pending (~Sep)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364992" y="343814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D700"/>
                </a:solidFill>
              </a:rPr>
              <a:t>₹2,94,38,370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188720" y="381304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ADCFC"/>
                </a:solidFill>
              </a:rPr>
              <a:t>UL HAP DevOps Opt. (Ext.)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291840" y="3813048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D700"/>
                </a:solidFill>
              </a:rPr>
              <a:t>₹2,29,47,194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188720" y="40142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ADCFC"/>
                </a:solidFill>
              </a:rPr>
              <a:t>UL Cloud Governance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291840" y="4014216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D700"/>
                </a:solidFill>
              </a:rPr>
              <a:t>₹17,36,411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188720" y="421538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ADCFC"/>
                </a:solidFill>
              </a:rPr>
              <a:t>UL HAP Observability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3291840" y="4215384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D700"/>
                </a:solidFill>
              </a:rPr>
              <a:t>₹20,95,924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188720" y="441655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ADCFC"/>
                </a:solidFill>
              </a:rPr>
              <a:t>UL GenAI Dev (Vijay)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3291840" y="4416552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D700"/>
                </a:solidFill>
              </a:rPr>
              <a:t>₹7,40,708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188720" y="461772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ADCFC"/>
                </a:solidFill>
              </a:rPr>
              <a:t>UL DevOps &amp; Cloud Gov. Ph1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291840" y="4617720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D700"/>
                </a:solidFill>
              </a:rPr>
              <a:t>₹13,18,133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669280" y="914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A148C"/>
                </a:solidFill>
              </a:rPr>
              <a:t>MANAGED REVENUE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669280" y="1261872"/>
            <a:ext cx="3291840" cy="1005840"/>
          </a:xfrm>
          <a:prstGeom prst="rect">
            <a:avLst/>
          </a:prstGeom>
          <a:solidFill>
            <a:srgbClr val="4A148C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5806440" y="129844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</a:rPr>
              <a:t>New Revenue Stream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806440" y="157276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</a:rPr>
              <a:t>₹3,18,38,018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5806440" y="20116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</a:rPr>
              <a:t>SCNC Agentic Deployment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5669280" y="2468880"/>
            <a:ext cx="3291840" cy="36576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5" name="Shape 32"/>
          <p:cNvSpPr/>
          <p:nvPr/>
        </p:nvSpPr>
        <p:spPr>
          <a:xfrm>
            <a:off x="5669280" y="2578608"/>
            <a:ext cx="3291840" cy="100584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5806440" y="262432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Total Revenue Influence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806440" y="289864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₹6,87,87,388</a:t>
            </a:r>
            <a:endParaRPr lang="en-US" sz="2200" dirty="0"/>
          </a:p>
        </p:txBody>
      </p:sp>
      <p:sp>
        <p:nvSpPr>
          <p:cNvPr id="38" name="Text 35"/>
          <p:cNvSpPr/>
          <p:nvPr/>
        </p:nvSpPr>
        <p:spPr>
          <a:xfrm>
            <a:off x="5806440" y="338328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C0"/>
                </a:solidFill>
              </a:rPr>
              <a:t>Generative + Managed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0" name="Text 37"/>
          <p:cNvSpPr/>
          <p:nvPr/>
        </p:nvSpPr>
        <p:spPr>
          <a:xfrm>
            <a:off x="274320" y="4818888"/>
            <a:ext cx="859536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D700"/>
                </a:solidFill>
              </a:rPr>
              <a:t>Generative Revenue: ₹75.11 L collected · ₹2,94,38,370 invoiced &amp; awaiting payment (~Sep)  |  Managed Revenue: New stream, ₹3.18 Cr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KEY PROJECTS DELIVERED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64592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01168" y="896112"/>
            <a:ext cx="2816352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01168" y="896112"/>
            <a:ext cx="2816352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201168" y="896112"/>
            <a:ext cx="2816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C3F7"/>
                </a:solidFill>
              </a:rPr>
              <a:t>Project 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92608" y="1536192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ACS Unified DevSecOps Pipeline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92608" y="2029968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BC0"/>
                </a:solidFill>
              </a:rPr>
              <a:t>Client: Unilever  |  Role: Architect / Lead / SME  |  Team: 5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92608" y="2423160"/>
            <a:ext cx="2633472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" name="Text 8"/>
          <p:cNvSpPr/>
          <p:nvPr/>
        </p:nvSpPr>
        <p:spPr>
          <a:xfrm>
            <a:off x="292608" y="248716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Outcomes: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92608" y="276148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Scalable DevSecOps framework with integrated SecOps &amp; code quality scanning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92608" y="3017520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Standardized image model across dev, test &amp; prod environments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92608" y="3273552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Deployment time ↓ 50%; Pipeline availability → 100%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92608" y="3529584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Audit-ready artifact storage &amp; compliance governance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92608" y="4645152"/>
            <a:ext cx="2633472" cy="256032"/>
          </a:xfrm>
          <a:prstGeom prst="rect">
            <a:avLst/>
          </a:prstGeom>
          <a:solidFill>
            <a:srgbClr val="1E2761">
              <a:alpha val="15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292608" y="4645152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Value: Risk · Speed · Quality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182112" y="896112"/>
            <a:ext cx="2816352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182112" y="896112"/>
            <a:ext cx="2816352" cy="5943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0" name="Text 17"/>
          <p:cNvSpPr/>
          <p:nvPr/>
        </p:nvSpPr>
        <p:spPr>
          <a:xfrm>
            <a:off x="3182112" y="896112"/>
            <a:ext cx="2816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C3F7"/>
                </a:solidFill>
              </a:rPr>
              <a:t>Project 2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273552" y="1536192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ACS &amp; RPA NewRelic Observability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273552" y="2029968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BC0"/>
                </a:solidFill>
              </a:rPr>
              <a:t>Client: Unilever  |  Role: Architect / SME  |  Team: 4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73552" y="2423160"/>
            <a:ext cx="2633472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4" name="Text 21"/>
          <p:cNvSpPr/>
          <p:nvPr/>
        </p:nvSpPr>
        <p:spPr>
          <a:xfrm>
            <a:off x="3273552" y="248716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Outcomes: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3273552" y="276148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Unified monitoring: NewRelic integrated with Azure for ACS &amp; RPA bots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273552" y="3017520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Custom executive dashboards with real-time insights &amp; actionable metrics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273552" y="3273552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Color-coded alerts + trend analysis for proactive issue detection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273552" y="3529584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Cost dashboard for utilization tracking &amp; transparency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3273552" y="4645152"/>
            <a:ext cx="2633472" cy="256032"/>
          </a:xfrm>
          <a:prstGeom prst="rect">
            <a:avLst/>
          </a:prstGeom>
          <a:solidFill>
            <a:srgbClr val="065A82">
              <a:alpha val="15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3273552" y="4645152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Value: Visibility · Risk · Cost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6163056" y="896112"/>
            <a:ext cx="2816352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163056" y="896112"/>
            <a:ext cx="2816352" cy="59436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3" name="Text 30"/>
          <p:cNvSpPr/>
          <p:nvPr/>
        </p:nvSpPr>
        <p:spPr>
          <a:xfrm>
            <a:off x="6163056" y="896112"/>
            <a:ext cx="2816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C3F7"/>
                </a:solidFill>
              </a:rPr>
              <a:t>Project 3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254496" y="1536192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HAP LaunchPad 2.0 — Governance Platform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254496" y="2029968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BC0"/>
                </a:solidFill>
              </a:rPr>
              <a:t>Client: Unilever  |  Role: Architect / SME  |  Team: 2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254496" y="2423160"/>
            <a:ext cx="2633472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7" name="Text 34"/>
          <p:cNvSpPr/>
          <p:nvPr/>
        </p:nvSpPr>
        <p:spPr>
          <a:xfrm>
            <a:off x="6254496" y="248716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Outcomes: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254496" y="276148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Unified approval workflow: Gate 1, 1.5 &amp; 2 in one seamless traceable platform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6254496" y="3017520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Leadership dashboards with SLA timelines &amp; governance status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254496" y="3273552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Approval timelines reduced: weeks → days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6254496" y="3529584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Centralized evidence storage for audit readiness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254496" y="4645152"/>
            <a:ext cx="2633472" cy="256032"/>
          </a:xfrm>
          <a:prstGeom prst="rect">
            <a:avLst/>
          </a:prstGeom>
          <a:solidFill>
            <a:srgbClr val="00695C">
              <a:alpha val="15000"/>
            </a:srgbClr>
          </a:solidFill>
          <a:ln/>
        </p:spPr>
      </p:sp>
      <p:sp>
        <p:nvSpPr>
          <p:cNvPr id="43" name="Text 40"/>
          <p:cNvSpPr/>
          <p:nvPr/>
        </p:nvSpPr>
        <p:spPr>
          <a:xfrm>
            <a:off x="6254496" y="4645152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95C"/>
                </a:solidFill>
              </a:rPr>
              <a:t>Value: Governance · Speed · Compliance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CLIENT PORTFOLIO &amp; CROSS-ACCOUNT CONTRIBUTIONS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64592"/>
            <a:ext cx="457200" cy="45720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1463040"/>
        </p:xfrm>
        <a:graphic>
          <a:graphicData uri="http://schemas.openxmlformats.org/drawingml/2006/table">
            <a:tbl>
              <a:tblPr/>
              <a:tblGrid>
                <a:gridCol w="1463040"/>
                <a:gridCol w="2377440"/>
                <a:gridCol w="1371600"/>
                <a:gridCol w="3383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Client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Engagement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Key Contribution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Unilever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Cloud Infra &amp; DevOps Architect / Engagement Lead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Optimization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 major projects; DevOps team scaled 2→6; Full delivery ownership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GCPL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Cloud Infrastructure Architect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Development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GenAI infra architecture on Azure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MSIL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Cloud Infrastructure Architect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Development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Dataverse GenAI infra on AWS; DevOps observations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274320" y="25146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Pipeline Created for Next Year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320040" y="2971800"/>
            <a:ext cx="4206240" cy="41148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457200" y="29718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ACS &amp; RPA Unified Pipeline — GCP migration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320040" y="3474720"/>
            <a:ext cx="4206240" cy="41148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57200" y="34747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NewRelic Observability — Phase 2 for ACS bots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20040" y="3977640"/>
            <a:ext cx="4206240" cy="41148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57200" y="39776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DevSecOps Pipeline — Phase 3 extension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709160" y="2971800"/>
            <a:ext cx="4206240" cy="41148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846320" y="29718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ACS Bot migration to GCP Cloud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709160" y="3474720"/>
            <a:ext cx="4206240" cy="41148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846320" y="34747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Azure infrastructure security hardening (vulnerabilities, network)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VALUE CREATED FOR CLIENTS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64592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96012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960120"/>
            <a:ext cx="73152" cy="1828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0058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SPEED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14173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Release cycles shortened from days → hours; faster market responsiveness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181965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Standardization &amp; automation enabled faster environment provisioning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222199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Gate approvals: weeks → days via LaunchPad governance platform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09160" y="96012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960120"/>
            <a:ext cx="73152" cy="182880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3" name="Text 10"/>
          <p:cNvSpPr/>
          <p:nvPr/>
        </p:nvSpPr>
        <p:spPr>
          <a:xfrm>
            <a:off x="4892040" y="10058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95C"/>
                </a:solidFill>
              </a:rPr>
              <a:t>QUALITY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92040" y="14173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Improved code quality &amp; compliance governance in CI/CD pipeline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892040" y="181965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Improved SLA adherence on critical gate approvals (LaunchPad)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892040" y="222199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Reusable DevSecOps frameworks &amp; scalable architecture patterns created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274320" y="297180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4320" y="2971800"/>
            <a:ext cx="73152" cy="182880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30175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0DAD"/>
                </a:solidFill>
              </a:rPr>
              <a:t>RISK &amp; SECURITY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57200" y="34290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Enhanced security posture — SecOps tools integrated in pipeline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57200" y="383133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Designed scalable &amp; secured GenAI architecture for GCPL on Azure — production-ready, future-proof foundation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57200" y="42336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Full bot visibility via NewRelic: proactive alerts &amp; color-coded monitoring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709160" y="297180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709160" y="2971800"/>
            <a:ext cx="73152" cy="18288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5" name="Text 22"/>
          <p:cNvSpPr/>
          <p:nvPr/>
        </p:nvSpPr>
        <p:spPr>
          <a:xfrm>
            <a:off x="4892040" y="30175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</a:rPr>
              <a:t>COST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892040" y="34290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Optimized infrastructure utilization &amp; deployment effort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892040" y="383133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Cost transparency dashboard for utilization trend analysis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892040" y="42336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Infrastructure governance improvements reduce operational overhead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BEYOND DELIVERY — BROADER CONTRIBUTIONS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64592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960120"/>
            <a:ext cx="4160520" cy="114300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10515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Team Building &amp; Scaling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51560" y="139903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Established and scaled the DevOps delivery team; improved delivery maturity and execution capability across Unilever engagements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709160" y="960120"/>
            <a:ext cx="4160520" cy="114300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28016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0" y="10515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Mentoring &amp; Capability Building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486400" y="139903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Onboarded intern; co-built 3 AI-powered products: AI Unit Test Generator, Bug Analyser in IDE &amp; ADO Project Provisioner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274320" y="2258568"/>
            <a:ext cx="4160520" cy="114300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578608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23500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Audit &amp; Compliance (QRM)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1051560" y="26974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Participated in ESE &amp; GCC audits; ensured compliance readiness and governance across all client engagements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4709160" y="2258568"/>
            <a:ext cx="4160520" cy="114300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2578608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486400" y="23500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RFP &amp; Business Development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5486400" y="26974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Supported 5 RFP opportunities — Valterra, Tavant, MSIL, RIL &amp; JSW — contributing to significant future revenue pipeline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274320" y="3557016"/>
            <a:ext cx="4160520" cy="114300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877056"/>
            <a:ext cx="457200" cy="4572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051560" y="364845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Cross-Team Delivery Support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1051560" y="399592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Guided teams through dependencies; stakeholder discussions to unblock delivery hurdles and release blockers</a:t>
            </a:r>
            <a:endParaRPr lang="en-US" sz="1000" dirty="0"/>
          </a:p>
        </p:txBody>
      </p:sp>
      <p:sp>
        <p:nvSpPr>
          <p:cNvPr id="25" name="Shape 17"/>
          <p:cNvSpPr/>
          <p:nvPr/>
        </p:nvSpPr>
        <p:spPr>
          <a:xfrm>
            <a:off x="4709160" y="3557016"/>
            <a:ext cx="4160520" cy="114300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3877056"/>
            <a:ext cx="457200" cy="45720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486400" y="364845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Continuous Learning — 8 Courses</a:t>
            </a:r>
            <a:endParaRPr lang="en-US" sz="1200" dirty="0"/>
          </a:p>
        </p:txBody>
      </p:sp>
      <p:sp>
        <p:nvSpPr>
          <p:cNvPr id="28" name="Text 19"/>
          <p:cNvSpPr/>
          <p:nvPr/>
        </p:nvSpPr>
        <p:spPr>
          <a:xfrm>
            <a:off x="5486400" y="399592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Cybersecurity Foundations · AI for Everyone · Architecting AI Solutions · MLOps · Cloud FinOps · Intro to FinOps · Intro to FOCUS · Claude 101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COMMITMENTS FOR 2026–27 &amp; ENABLERS NEEDED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663440" cy="3977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4FC3F7"/>
                </a:solidFill>
              </a:rPr>
              <a:t>2026–27 COMMITMENTS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Cloud-native modernization &amp; migration engagements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911096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DevOps maturity transformation for key accounts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340864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Extend DevSecOps pipeline to Phase 3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770632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NewRelic observability rollout for ACS bots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ACS Bot migration to GCP Cloud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630168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Azure security hardening (vulnerabilities + network)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4059936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Pipeline conversion &amp; account expansion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120640" y="914400"/>
            <a:ext cx="374904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120640" y="914400"/>
            <a:ext cx="3749040" cy="43891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91440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ENABLERS FROM LEADERSHIP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257800" y="1481328"/>
            <a:ext cx="3474720" cy="155448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7" name="Shape 15"/>
          <p:cNvSpPr/>
          <p:nvPr/>
        </p:nvSpPr>
        <p:spPr>
          <a:xfrm>
            <a:off x="5257800" y="1481328"/>
            <a:ext cx="64008" cy="155448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8" name="Text 16"/>
          <p:cNvSpPr/>
          <p:nvPr/>
        </p:nvSpPr>
        <p:spPr>
          <a:xfrm>
            <a:off x="5440680" y="159105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Skilled Resource Pool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40680" y="1984248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Access to niche talent in Observability &amp; DevOps to scale delivery capacity and meet growing client demand effectively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257800" y="3264408"/>
            <a:ext cx="3474720" cy="155448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1" name="Shape 19"/>
          <p:cNvSpPr/>
          <p:nvPr/>
        </p:nvSpPr>
        <p:spPr>
          <a:xfrm>
            <a:off x="5257800" y="3264408"/>
            <a:ext cx="64008" cy="155448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2" name="Text 20"/>
          <p:cNvSpPr/>
          <p:nvPr/>
        </p:nvSpPr>
        <p:spPr>
          <a:xfrm>
            <a:off x="5440680" y="337413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Engagement Administration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40680" y="3767328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Support for audit documentation, opportunity creation and engagement code management to reduce overhead on delivery teams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C3F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45720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19202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Consistent Delivery. Revenue Beyond Targets.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365760" y="2514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Established a strong foundation for scalable Cloud, DevOps &amp; Observability practices.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286000" y="3108960"/>
            <a:ext cx="4572000" cy="3657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32461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</a:rPr>
              <a:t>Committed to driving larger transformation programs, client growth &amp; organizational capability enhancement.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4FC3F7">
              <a:alpha val="3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484632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Manivel M  ·  Senior Manager, Cloud &amp; DevOps Architect  ·  Performance Discussion FY 2025–26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Review 2026</dc:title>
  <dc:subject>PptxGenJS Presentation</dc:subject>
  <dc:creator>Senior Manager, Cloud &amp; DevOps Architect</dc:creator>
  <cp:lastModifiedBy>Senior Manager, Cloud &amp; DevOps Architect</cp:lastModifiedBy>
  <cp:revision>1</cp:revision>
  <dcterms:created xsi:type="dcterms:W3CDTF">2026-05-27T03:01:35Z</dcterms:created>
  <dcterms:modified xsi:type="dcterms:W3CDTF">2026-05-27T03:01:35Z</dcterms:modified>
</cp:coreProperties>
</file>